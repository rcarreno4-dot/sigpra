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961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92B38"/>
                </a:solidFill>
                <a:latin typeface="Segoe UI"/>
              </a:rPr>
              <a:t>Procedimientos almacenados y roles en Oracle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60120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36570"/>
                </a:solidFill>
                <a:latin typeface="Segoe UI"/>
              </a:rPr>
              <a:t>Entrega final Proyecto Integrador - SIGPRA</a:t>
            </a:r>
          </a:p>
        </p:txBody>
      </p:sp>
      <p:pic>
        <p:nvPicPr>
          <p:cNvPr id="4" name="Picture 3" descr="sigpr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320040"/>
            <a:ext cx="1783080" cy="48847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1600200"/>
            <a:ext cx="11201400" cy="4160520"/>
          </a:xfrm>
          <a:prstGeom prst="rect">
            <a:avLst/>
          </a:prstGeom>
          <a:solidFill>
            <a:srgbClr val="F2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576072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</a:pPr>
            <a:r>
              <a:rPr sz="2400">
                <a:solidFill>
                  <a:srgbClr val="192B38"/>
                </a:solidFill>
                <a:latin typeface="Segoe UI"/>
              </a:rPr>
              <a:t>Base de datos Oracle XE</a:t>
            </a:r>
          </a:p>
          <a:p>
            <a:pPr>
              <a:spcAft>
                <a:spcPts val="900"/>
              </a:spcAft>
            </a:pPr>
            <a:r>
              <a:rPr sz="2400">
                <a:solidFill>
                  <a:srgbClr val="192B38"/>
                </a:solidFill>
                <a:latin typeface="Segoe UI"/>
              </a:rPr>
              <a:t>Seguridad por usuarios y roles</a:t>
            </a:r>
          </a:p>
          <a:p>
            <a:pPr>
              <a:spcAft>
                <a:spcPts val="900"/>
              </a:spcAft>
            </a:pPr>
            <a:r>
              <a:rPr sz="2400">
                <a:solidFill>
                  <a:srgbClr val="192B38"/>
                </a:solidFill>
                <a:latin typeface="Segoe UI"/>
              </a:rPr>
              <a:t>Reglas de negocio en procedimientos</a:t>
            </a:r>
          </a:p>
          <a:p>
            <a:pPr>
              <a:spcAft>
                <a:spcPts val="900"/>
              </a:spcAft>
            </a:pPr>
            <a:r>
              <a:rPr sz="2400">
                <a:solidFill>
                  <a:srgbClr val="192B38"/>
                </a:solidFill>
                <a:latin typeface="Segoe UI"/>
              </a:rPr>
              <a:t>Validacion con consultas SQL en vivo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2331720"/>
            <a:ext cx="4297680" cy="1143000"/>
          </a:xfrm>
          <a:prstGeom prst="roundRect">
            <a:avLst/>
          </a:prstGeom>
          <a:solidFill>
            <a:srgbClr val="F7F9FB"/>
          </a:solidFill>
          <a:ln>
            <a:solidFill>
              <a:srgbClr val="CD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22592" y="2496312"/>
            <a:ext cx="3968496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263744"/>
                </a:solidFill>
                <a:latin typeface="Consolas"/>
              </a:rPr>
              <a:t>sqlplus PRACTICAS_APP/Practicas2026@//localhost:1521/XE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81360" y="6601968"/>
            <a:ext cx="1005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  <a:latin typeface="Segoe UI"/>
              </a:rPr>
              <a:t>1/8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961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92B38"/>
                </a:solidFill>
                <a:latin typeface="Segoe UI"/>
              </a:rPr>
              <a:t>Objetivo de la capa Oracle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60120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36570"/>
                </a:solidFill>
                <a:latin typeface="Segoe UI"/>
              </a:rPr>
              <a:t>Que controla la base de datos dentro de SIGPRA</a:t>
            </a:r>
          </a:p>
        </p:txBody>
      </p:sp>
      <p:pic>
        <p:nvPicPr>
          <p:cNvPr id="4" name="Picture 3" descr="sigpr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320040"/>
            <a:ext cx="1783080" cy="48847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600200"/>
            <a:ext cx="3383280" cy="1417320"/>
          </a:xfrm>
          <a:prstGeom prst="roundRect">
            <a:avLst/>
          </a:prstGeom>
          <a:solidFill>
            <a:srgbClr val="F2F7FC"/>
          </a:solidFill>
          <a:ln>
            <a:solidFill>
              <a:srgbClr val="D2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728216"/>
            <a:ext cx="30540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66CC"/>
                </a:solidFill>
                <a:latin typeface="Segoe UI"/>
              </a:rPr>
              <a:t>Centralizacion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130552"/>
            <a:ext cx="3054096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192B38"/>
                </a:solidFill>
                <a:latin typeface="Segoe UI"/>
              </a:rPr>
              <a:t>Las reglas importantes no quedan dispersas en la interfaz; se encapsulan en procedimientos almacenados.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00200"/>
            <a:ext cx="3383280" cy="1417320"/>
          </a:xfrm>
          <a:prstGeom prst="roundRect">
            <a:avLst/>
          </a:prstGeom>
          <a:solidFill>
            <a:srgbClr val="F2F7FC"/>
          </a:solidFill>
          <a:ln>
            <a:solidFill>
              <a:srgbClr val="D2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728216"/>
            <a:ext cx="30540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66CC"/>
                </a:solidFill>
                <a:latin typeface="Segoe UI"/>
              </a:rPr>
              <a:t>Seguridad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2130552"/>
            <a:ext cx="3054096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192B38"/>
                </a:solidFill>
                <a:latin typeface="Segoe UI"/>
              </a:rPr>
              <a:t>Cada perfil opera con privilegios controlados mediante roles de Oracle.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00200"/>
            <a:ext cx="3383280" cy="1417320"/>
          </a:xfrm>
          <a:prstGeom prst="roundRect">
            <a:avLst/>
          </a:prstGeom>
          <a:solidFill>
            <a:srgbClr val="F2F7FC"/>
          </a:solidFill>
          <a:ln>
            <a:solidFill>
              <a:srgbClr val="D2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1312" y="1728216"/>
            <a:ext cx="30540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66CC"/>
                </a:solidFill>
                <a:latin typeface="Segoe UI"/>
              </a:rPr>
              <a:t>Consistencia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1312" y="2130552"/>
            <a:ext cx="3054096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192B38"/>
                </a:solidFill>
                <a:latin typeface="Segoe UI"/>
              </a:rPr>
              <a:t>Triggers y secuencias apoyan llaves primarias y registros consistentes.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657600"/>
            <a:ext cx="1042416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</a:pPr>
            <a:r>
              <a:rPr sz="2100">
                <a:solidFill>
                  <a:srgbClr val="192B38"/>
                </a:solidFill>
                <a:latin typeface="Segoe UI"/>
              </a:rPr>
              <a:t>Tablas principales: USUARIO, PRACTICA, BITACORA, EVIDENCIA</a:t>
            </a:r>
          </a:p>
          <a:p>
            <a:pPr>
              <a:spcAft>
                <a:spcPts val="900"/>
              </a:spcAft>
            </a:pPr>
            <a:r>
              <a:rPr sz="2100">
                <a:solidFill>
                  <a:srgbClr val="192B38"/>
                </a:solidFill>
                <a:latin typeface="Segoe UI"/>
              </a:rPr>
              <a:t>Roles funcionales: estudiante, docente, director y auditor</a:t>
            </a:r>
          </a:p>
          <a:p>
            <a:pPr>
              <a:spcAft>
                <a:spcPts val="900"/>
              </a:spcAft>
            </a:pPr>
            <a:r>
              <a:rPr sz="2100">
                <a:solidFill>
                  <a:srgbClr val="192B38"/>
                </a:solidFill>
                <a:latin typeface="Segoe UI"/>
              </a:rPr>
              <a:t>Procedimientos en estado VALID para mostrar en vivo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881360" y="6601968"/>
            <a:ext cx="1005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  <a:latin typeface="Segoe UI"/>
              </a:rPr>
              <a:t>2/8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961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92B38"/>
                </a:solidFill>
                <a:latin typeface="Segoe UI"/>
              </a:rPr>
              <a:t>Usuarios y roles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60120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36570"/>
                </a:solidFill>
                <a:latin typeface="Segoe UI"/>
              </a:rPr>
              <a:t>Separacion de responsabilidades por perfil</a:t>
            </a:r>
          </a:p>
        </p:txBody>
      </p:sp>
      <p:pic>
        <p:nvPicPr>
          <p:cNvPr id="4" name="Picture 3" descr="sigpr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320040"/>
            <a:ext cx="1783080" cy="48847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554480"/>
            <a:ext cx="2606040" cy="1554480"/>
          </a:xfrm>
          <a:prstGeom prst="roundRect">
            <a:avLst/>
          </a:prstGeom>
          <a:solidFill>
            <a:srgbClr val="F2F7FC"/>
          </a:solidFill>
          <a:ln>
            <a:solidFill>
              <a:srgbClr val="D2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82495"/>
            <a:ext cx="22768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66CC"/>
                </a:solidFill>
                <a:latin typeface="Segoe UI"/>
              </a:rPr>
              <a:t>U_SIGPRA_EST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084831"/>
            <a:ext cx="2276856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192B38"/>
                </a:solidFill>
                <a:latin typeface="Segoe UI"/>
              </a:rPr>
              <a:t>ROL_SIGPRA_ESTUDIANTE</a:t>
            </a:r>
            <a:br/>
            <a:r>
              <a:t>Registra bitacora y evidencias.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80" y="1554480"/>
            <a:ext cx="2606040" cy="1554480"/>
          </a:xfrm>
          <a:prstGeom prst="roundRect">
            <a:avLst/>
          </a:prstGeom>
          <a:solidFill>
            <a:srgbClr val="F2F7FC"/>
          </a:solidFill>
          <a:ln>
            <a:solidFill>
              <a:srgbClr val="D2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76472" y="1682495"/>
            <a:ext cx="22768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66CC"/>
                </a:solidFill>
                <a:latin typeface="Segoe UI"/>
              </a:rPr>
              <a:t>U_SIGPRA_DOC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76472" y="2084831"/>
            <a:ext cx="2276856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192B38"/>
                </a:solidFill>
                <a:latin typeface="Segoe UI"/>
              </a:rPr>
              <a:t>ROL_SIGPRA_DOCENTE</a:t>
            </a:r>
            <a:br/>
            <a:r>
              <a:t>Valida actividades y registra observaciones.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1554480"/>
            <a:ext cx="2606040" cy="1554480"/>
          </a:xfrm>
          <a:prstGeom prst="roundRect">
            <a:avLst/>
          </a:prstGeom>
          <a:solidFill>
            <a:srgbClr val="F2F7FC"/>
          </a:solidFill>
          <a:ln>
            <a:solidFill>
              <a:srgbClr val="D2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56831" y="1682495"/>
            <a:ext cx="22768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66CC"/>
                </a:solidFill>
                <a:latin typeface="Segoe UI"/>
              </a:rPr>
              <a:t>U_SIGPRA_DIR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56831" y="2084831"/>
            <a:ext cx="2276856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192B38"/>
                </a:solidFill>
                <a:latin typeface="Segoe UI"/>
              </a:rPr>
              <a:t>ROL_SIGPRA_DIRECTOR</a:t>
            </a:r>
            <a:br/>
            <a:r>
              <a:t>Administra practicas, plantillas y cierres.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72600" y="1554480"/>
            <a:ext cx="2606040" cy="1554480"/>
          </a:xfrm>
          <a:prstGeom prst="roundRect">
            <a:avLst/>
          </a:prstGeom>
          <a:solidFill>
            <a:srgbClr val="F2F7FC"/>
          </a:solidFill>
          <a:ln>
            <a:solidFill>
              <a:srgbClr val="D2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37192" y="1682495"/>
            <a:ext cx="22768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66CC"/>
                </a:solidFill>
                <a:latin typeface="Segoe UI"/>
              </a:rPr>
              <a:t>U_SIGPRA_AUD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37192" y="2084831"/>
            <a:ext cx="2276856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192B38"/>
                </a:solidFill>
                <a:latin typeface="Segoe UI"/>
              </a:rPr>
              <a:t>ROL_SIGPRA_AUDITOR</a:t>
            </a:r>
            <a:br/>
            <a:r>
              <a:t>Consulta informacion sin modificar datos.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" y="3886200"/>
            <a:ext cx="4892040" cy="1554480"/>
          </a:xfrm>
          <a:prstGeom prst="roundRect">
            <a:avLst/>
          </a:prstGeom>
          <a:solidFill>
            <a:srgbClr val="F7F9FB"/>
          </a:solidFill>
          <a:ln>
            <a:solidFill>
              <a:srgbClr val="CD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16151" y="4050791"/>
            <a:ext cx="4562855" cy="1225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263744"/>
                </a:solidFill>
                <a:latin typeface="Consolas"/>
              </a:rPr>
              <a:t>SELECT grantee, granted_role</a:t>
            </a:r>
            <a:br/>
            <a:r>
              <a:rPr sz="1700">
                <a:solidFill>
                  <a:srgbClr val="263744"/>
                </a:solidFill>
                <a:latin typeface="Consolas"/>
              </a:rPr>
              <a:t>FROM dba_role_privs</a:t>
            </a:r>
            <a:br/>
            <a:r>
              <a:rPr sz="1700">
                <a:solidFill>
                  <a:srgbClr val="263744"/>
                </a:solidFill>
                <a:latin typeface="Consolas"/>
              </a:rPr>
              <a:t>WHERE grantee LIKE 'U_SIGPRA%'</a:t>
            </a:r>
            <a:br/>
            <a:r>
              <a:rPr sz="1700">
                <a:solidFill>
                  <a:srgbClr val="263744"/>
                </a:solidFill>
                <a:latin typeface="Consolas"/>
              </a:rPr>
              <a:t>ORDER BY grantee;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3886200"/>
            <a:ext cx="4617720" cy="1554480"/>
          </a:xfrm>
          <a:prstGeom prst="roundRect">
            <a:avLst/>
          </a:prstGeom>
          <a:solidFill>
            <a:srgbClr val="F7F9FB"/>
          </a:solidFill>
          <a:ln>
            <a:solidFill>
              <a:srgbClr val="CD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3952" y="4050791"/>
            <a:ext cx="4288536" cy="1225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263744"/>
                </a:solidFill>
                <a:latin typeface="Consolas"/>
              </a:rPr>
              <a:t>SELECT role</a:t>
            </a:r>
            <a:br/>
            <a:r>
              <a:rPr sz="1700">
                <a:solidFill>
                  <a:srgbClr val="263744"/>
                </a:solidFill>
                <a:latin typeface="Consolas"/>
              </a:rPr>
              <a:t>FROM dba_roles</a:t>
            </a:r>
            <a:br/>
            <a:r>
              <a:rPr sz="1700">
                <a:solidFill>
                  <a:srgbClr val="263744"/>
                </a:solidFill>
                <a:latin typeface="Consolas"/>
              </a:rPr>
              <a:t>WHERE role LIKE 'ROL_SIGPRA%'</a:t>
            </a:r>
            <a:br/>
            <a:r>
              <a:rPr sz="1700">
                <a:solidFill>
                  <a:srgbClr val="263744"/>
                </a:solidFill>
                <a:latin typeface="Consolas"/>
              </a:rPr>
              <a:t>ORDER BY role;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881360" y="6601968"/>
            <a:ext cx="1005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  <a:latin typeface="Segoe UI"/>
              </a:rPr>
              <a:t>3/8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961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92B38"/>
                </a:solidFill>
                <a:latin typeface="Segoe UI"/>
              </a:rPr>
              <a:t>Privilegios por 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60120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36570"/>
                </a:solidFill>
                <a:latin typeface="Segoe UI"/>
              </a:rPr>
              <a:t>Aplicacion del principio de minimo privilegio</a:t>
            </a:r>
          </a:p>
        </p:txBody>
      </p:sp>
      <p:pic>
        <p:nvPicPr>
          <p:cNvPr id="4" name="Picture 3" descr="sigpr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320040"/>
            <a:ext cx="1783080" cy="48847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554480"/>
            <a:ext cx="534924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</a:pPr>
            <a:r>
              <a:rPr sz="1900">
                <a:solidFill>
                  <a:srgbClr val="192B38"/>
                </a:solidFill>
                <a:latin typeface="Segoe UI"/>
              </a:rPr>
              <a:t>Estudiante: SELECT sobre practica y usuario; INSERT/UPDATE en bitacora; INSERT en evidencia.</a:t>
            </a:r>
          </a:p>
          <a:p>
            <a:pPr>
              <a:spcAft>
                <a:spcPts val="900"/>
              </a:spcAft>
            </a:pPr>
            <a:r>
              <a:rPr sz="1900">
                <a:solidFill>
                  <a:srgbClr val="192B38"/>
                </a:solidFill>
                <a:latin typeface="Segoe UI"/>
              </a:rPr>
              <a:t>Docente: SELECT en practica y estudiantes; UPDATE en bitacora para validacion.</a:t>
            </a:r>
          </a:p>
          <a:p>
            <a:pPr>
              <a:spcAft>
                <a:spcPts val="900"/>
              </a:spcAft>
            </a:pPr>
            <a:r>
              <a:rPr sz="1900">
                <a:solidFill>
                  <a:srgbClr val="192B38"/>
                </a:solidFill>
                <a:latin typeface="Segoe UI"/>
              </a:rPr>
              <a:t>Director: administra usuarios academicos, practicas, plantillas y cierre.</a:t>
            </a:r>
          </a:p>
          <a:p>
            <a:pPr>
              <a:spcAft>
                <a:spcPts val="900"/>
              </a:spcAft>
            </a:pPr>
            <a:r>
              <a:rPr sz="1900">
                <a:solidFill>
                  <a:srgbClr val="192B38"/>
                </a:solidFill>
                <a:latin typeface="Segoe UI"/>
              </a:rPr>
              <a:t>Auditor: solo SELECT para revision sin cambios.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55080" y="1600200"/>
            <a:ext cx="5074920" cy="2926080"/>
          </a:xfrm>
          <a:prstGeom prst="roundRect">
            <a:avLst/>
          </a:prstGeom>
          <a:solidFill>
            <a:srgbClr val="F7F9FB"/>
          </a:solidFill>
          <a:ln>
            <a:solidFill>
              <a:srgbClr val="CD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19672" y="1764792"/>
            <a:ext cx="4745736" cy="2596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63744"/>
                </a:solidFill>
                <a:latin typeface="Consolas"/>
              </a:rPr>
              <a:t>SELECT grantee, table_name, privilege</a:t>
            </a:r>
            <a:br/>
            <a:r>
              <a:rPr sz="1400">
                <a:solidFill>
                  <a:srgbClr val="263744"/>
                </a:solidFill>
                <a:latin typeface="Consolas"/>
              </a:rPr>
              <a:t>FROM dba_tab_privs</a:t>
            </a:r>
            <a:br/>
            <a:r>
              <a:rPr sz="1400">
                <a:solidFill>
                  <a:srgbClr val="263744"/>
                </a:solidFill>
                <a:latin typeface="Consolas"/>
              </a:rPr>
              <a:t>WHERE grantee LIKE 'ROL_SIGPRA%'</a:t>
            </a:r>
            <a:br/>
            <a:r>
              <a:rPr sz="1400">
                <a:solidFill>
                  <a:srgbClr val="263744"/>
                </a:solidFill>
                <a:latin typeface="Consolas"/>
              </a:rPr>
              <a:t>  AND owner = 'PRACTICAS_APP'</a:t>
            </a:r>
            <a:br/>
            <a:r>
              <a:rPr sz="1400">
                <a:solidFill>
                  <a:srgbClr val="263744"/>
                </a:solidFill>
                <a:latin typeface="Consolas"/>
              </a:rPr>
              <a:t>ORDER BY grantee, table_name, privilege;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4800600"/>
            <a:ext cx="4983480" cy="914400"/>
          </a:xfrm>
          <a:prstGeom prst="roundRect">
            <a:avLst/>
          </a:prstGeom>
          <a:solidFill>
            <a:srgbClr val="F2F7FC"/>
          </a:solidFill>
          <a:ln>
            <a:solidFill>
              <a:srgbClr val="D2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65392" y="4928616"/>
            <a:ext cx="46542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66CC"/>
                </a:solidFill>
                <a:latin typeface="Segoe UI"/>
              </a:rPr>
              <a:t>Mensaje clave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5392" y="5330952"/>
            <a:ext cx="46542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192B38"/>
                </a:solidFill>
                <a:latin typeface="Segoe UI"/>
              </a:rPr>
              <a:t>No todos los usuarios trabajan como administrador. Cada rol recibe solo los permisos necesarios para su funcion.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81360" y="6601968"/>
            <a:ext cx="1005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  <a:latin typeface="Segoe UI"/>
              </a:rPr>
              <a:t>4/8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961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92B38"/>
                </a:solidFill>
                <a:latin typeface="Segoe UI"/>
              </a:rPr>
              <a:t>Procedimientos almacenados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60120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36570"/>
                </a:solidFill>
                <a:latin typeface="Segoe UI"/>
              </a:rPr>
              <a:t>Reglas de negocio centralizadas en Oracle</a:t>
            </a:r>
          </a:p>
        </p:txBody>
      </p:sp>
      <p:pic>
        <p:nvPicPr>
          <p:cNvPr id="4" name="Picture 3" descr="sigpr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320040"/>
            <a:ext cx="1783080" cy="48847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85800" y="1417320"/>
            <a:ext cx="3520440" cy="1051560"/>
          </a:xfrm>
          <a:prstGeom prst="roundRect">
            <a:avLst/>
          </a:prstGeom>
          <a:solidFill>
            <a:srgbClr val="F2F7FC"/>
          </a:solidFill>
          <a:ln>
            <a:solidFill>
              <a:srgbClr val="D2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545336"/>
            <a:ext cx="31912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66CC"/>
                </a:solidFill>
                <a:latin typeface="Segoe UI"/>
              </a:rPr>
              <a:t>SP_REGISTRAR_ACTIVIDAD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947672"/>
            <a:ext cx="3191256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192B38"/>
                </a:solidFill>
                <a:latin typeface="Segoe UI"/>
              </a:rPr>
              <a:t>Inserta actividad en BITACORA y suma horas en PRACTICA.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17320"/>
            <a:ext cx="3520440" cy="1051560"/>
          </a:xfrm>
          <a:prstGeom prst="roundRect">
            <a:avLst/>
          </a:prstGeom>
          <a:solidFill>
            <a:srgbClr val="F2F7FC"/>
          </a:solidFill>
          <a:ln>
            <a:solidFill>
              <a:srgbClr val="D2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7992" y="1545336"/>
            <a:ext cx="31912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66CC"/>
                </a:solidFill>
                <a:latin typeface="Segoe UI"/>
              </a:rPr>
              <a:t>SP_VALIDAR_ACTIVIDAD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7992" y="1947672"/>
            <a:ext cx="3191256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192B38"/>
                </a:solidFill>
                <a:latin typeface="Segoe UI"/>
              </a:rPr>
              <a:t>Actualiza estado, observacion docente y fecha de validacion.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417320"/>
            <a:ext cx="3520440" cy="1051560"/>
          </a:xfrm>
          <a:prstGeom prst="roundRect">
            <a:avLst/>
          </a:prstGeom>
          <a:solidFill>
            <a:srgbClr val="F2F7FC"/>
          </a:solidFill>
          <a:ln>
            <a:solidFill>
              <a:srgbClr val="D2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65592" y="1545336"/>
            <a:ext cx="31912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66CC"/>
                </a:solidFill>
                <a:latin typeface="Segoe UI"/>
              </a:rPr>
              <a:t>SP_REGISTRAR_EVIDENCIA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65592" y="1947672"/>
            <a:ext cx="3191256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192B38"/>
                </a:solidFill>
                <a:latin typeface="Segoe UI"/>
              </a:rPr>
              <a:t>Registra archivo de soporte asociado a una actividad.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23160" y="2788920"/>
            <a:ext cx="3520440" cy="1051560"/>
          </a:xfrm>
          <a:prstGeom prst="roundRect">
            <a:avLst/>
          </a:prstGeom>
          <a:solidFill>
            <a:srgbClr val="F2F7FC"/>
          </a:solidFill>
          <a:ln>
            <a:solidFill>
              <a:srgbClr val="D2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87752" y="2916936"/>
            <a:ext cx="31912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66CC"/>
                </a:solidFill>
                <a:latin typeface="Segoe UI"/>
              </a:rPr>
              <a:t>SP_CERRAR_PRACTICA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87752" y="3319272"/>
            <a:ext cx="3191256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192B38"/>
                </a:solidFill>
                <a:latin typeface="Segoe UI"/>
              </a:rPr>
              <a:t>Cambia estado final de una practica desde direccion.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2788920"/>
            <a:ext cx="3520440" cy="1051560"/>
          </a:xfrm>
          <a:prstGeom prst="roundRect">
            <a:avLst/>
          </a:prstGeom>
          <a:solidFill>
            <a:srgbClr val="F2F7FC"/>
          </a:solidFill>
          <a:ln>
            <a:solidFill>
              <a:srgbClr val="D2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1" y="2916936"/>
            <a:ext cx="31912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66CC"/>
                </a:solidFill>
                <a:latin typeface="Segoe UI"/>
              </a:rPr>
              <a:t>SP_CREAR_PLANTILLA_BITACORA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1" y="3319272"/>
            <a:ext cx="3191256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192B38"/>
                </a:solidFill>
                <a:latin typeface="Segoe UI"/>
              </a:rPr>
              <a:t>Crea plantilla por semestre y modalidad.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65960" y="4572000"/>
            <a:ext cx="8229600" cy="1234440"/>
          </a:xfrm>
          <a:prstGeom prst="roundRect">
            <a:avLst/>
          </a:prstGeom>
          <a:solidFill>
            <a:srgbClr val="F7F9FB"/>
          </a:solidFill>
          <a:ln>
            <a:solidFill>
              <a:srgbClr val="CD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30552" y="4736592"/>
            <a:ext cx="7900416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263744"/>
                </a:solidFill>
                <a:latin typeface="Consolas"/>
              </a:rPr>
              <a:t>SELECT object_name, object_type, status</a:t>
            </a:r>
            <a:br/>
            <a:r>
              <a:rPr sz="1700">
                <a:solidFill>
                  <a:srgbClr val="263744"/>
                </a:solidFill>
                <a:latin typeface="Consolas"/>
              </a:rPr>
              <a:t>FROM user_objects</a:t>
            </a:r>
            <a:br/>
            <a:r>
              <a:rPr sz="1700">
                <a:solidFill>
                  <a:srgbClr val="263744"/>
                </a:solidFill>
                <a:latin typeface="Consolas"/>
              </a:rPr>
              <a:t>WHERE object_type = 'PROCEDURE'</a:t>
            </a:r>
            <a:br/>
            <a:r>
              <a:rPr sz="1700">
                <a:solidFill>
                  <a:srgbClr val="263744"/>
                </a:solidFill>
                <a:latin typeface="Consolas"/>
              </a:rPr>
              <a:t>ORDER BY object_name;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881360" y="6601968"/>
            <a:ext cx="1005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  <a:latin typeface="Segoe UI"/>
              </a:rPr>
              <a:t>5/8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961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92B38"/>
                </a:solidFill>
                <a:latin typeface="Segoe UI"/>
              </a:rPr>
              <a:t>Ejemplo: SP_REGISTRAR_ACTIVIDAD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60120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36570"/>
                </a:solidFill>
                <a:latin typeface="Segoe UI"/>
              </a:rPr>
              <a:t>Operacion completa desde la base de datos</a:t>
            </a:r>
          </a:p>
        </p:txBody>
      </p:sp>
      <p:pic>
        <p:nvPicPr>
          <p:cNvPr id="4" name="Picture 3" descr="sigpr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320040"/>
            <a:ext cx="1783080" cy="48847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1508760"/>
            <a:ext cx="516636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</a:pPr>
            <a:r>
              <a:rPr sz="2000">
                <a:solidFill>
                  <a:srgbClr val="192B38"/>
                </a:solidFill>
                <a:latin typeface="Segoe UI"/>
              </a:rPr>
              <a:t>Recibe practica, fecha, actividad, descripcion y horas.</a:t>
            </a:r>
          </a:p>
          <a:p>
            <a:pPr>
              <a:spcAft>
                <a:spcPts val="900"/>
              </a:spcAft>
            </a:pPr>
            <a:r>
              <a:rPr sz="2000">
                <a:solidFill>
                  <a:srgbClr val="192B38"/>
                </a:solidFill>
                <a:latin typeface="Segoe UI"/>
              </a:rPr>
              <a:t>Inserta el registro en BITACORA.</a:t>
            </a:r>
          </a:p>
          <a:p>
            <a:pPr>
              <a:spcAft>
                <a:spcPts val="900"/>
              </a:spcAft>
            </a:pPr>
            <a:r>
              <a:rPr sz="2000">
                <a:solidFill>
                  <a:srgbClr val="192B38"/>
                </a:solidFill>
                <a:latin typeface="Segoe UI"/>
              </a:rPr>
              <a:t>Retorna el ID generado mediante parametro OUT.</a:t>
            </a:r>
          </a:p>
          <a:p>
            <a:pPr>
              <a:spcAft>
                <a:spcPts val="900"/>
              </a:spcAft>
            </a:pPr>
            <a:r>
              <a:rPr sz="2000">
                <a:solidFill>
                  <a:srgbClr val="192B38"/>
                </a:solidFill>
                <a:latin typeface="Segoe UI"/>
              </a:rPr>
              <a:t>Actualiza horas acumuladas en PRACTICA.</a:t>
            </a:r>
          </a:p>
          <a:p>
            <a:pPr>
              <a:spcAft>
                <a:spcPts val="900"/>
              </a:spcAft>
            </a:pPr>
            <a:r>
              <a:rPr sz="2000">
                <a:solidFill>
                  <a:srgbClr val="192B38"/>
                </a:solidFill>
                <a:latin typeface="Segoe UI"/>
              </a:rPr>
              <a:t>Si cumple el objetivo, pasa a PENDIENTE_APROBACION.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508760"/>
            <a:ext cx="5257800" cy="3886200"/>
          </a:xfrm>
          <a:prstGeom prst="roundRect">
            <a:avLst/>
          </a:prstGeom>
          <a:solidFill>
            <a:srgbClr val="F7F9FB"/>
          </a:solidFill>
          <a:ln>
            <a:solidFill>
              <a:srgbClr val="CD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28231" y="1673351"/>
            <a:ext cx="4928616" cy="3557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63744"/>
                </a:solidFill>
                <a:latin typeface="Consolas"/>
              </a:rPr>
              <a:t>INSERT INTO bitacora (...)</a:t>
            </a:r>
            <a:br/>
            <a:r>
              <a:rPr sz="1400">
                <a:solidFill>
                  <a:srgbClr val="263744"/>
                </a:solidFill>
                <a:latin typeface="Consolas"/>
              </a:rPr>
              <a:t>VALUES (..., 'PENDIENTE')</a:t>
            </a:r>
            <a:br/>
            <a:r>
              <a:rPr sz="1400">
                <a:solidFill>
                  <a:srgbClr val="263744"/>
                </a:solidFill>
                <a:latin typeface="Consolas"/>
              </a:rPr>
              <a:t>RETURNING id_bitacora INTO P_ID_BITACORA_OUT;</a:t>
            </a:r>
            <a:br/>
            <a:br/>
            <a:r>
              <a:rPr sz="1400">
                <a:solidFill>
                  <a:srgbClr val="263744"/>
                </a:solidFill>
                <a:latin typeface="Consolas"/>
              </a:rPr>
              <a:t>UPDATE practica</a:t>
            </a:r>
            <a:br/>
            <a:r>
              <a:rPr sz="1400">
                <a:solidFill>
                  <a:srgbClr val="263744"/>
                </a:solidFill>
                <a:latin typeface="Consolas"/>
              </a:rPr>
              <a:t>SET horas_acumuladas = NVL(horas_acumuladas,0) + P_HORAS,</a:t>
            </a:r>
            <a:br/>
            <a:r>
              <a:rPr sz="1400">
                <a:solidFill>
                  <a:srgbClr val="263744"/>
                </a:solidFill>
                <a:latin typeface="Consolas"/>
              </a:rPr>
              <a:t>    estado = CASE WHEN ... THEN 'PENDIENTE_APROBACION' END;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0" y="6601968"/>
            <a:ext cx="1005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  <a:latin typeface="Segoe UI"/>
              </a:rPr>
              <a:t>6/8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961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92B38"/>
                </a:solidFill>
                <a:latin typeface="Segoe UI"/>
              </a:rPr>
              <a:t>Demostracion en vivo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60120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36570"/>
                </a:solidFill>
                <a:latin typeface="Segoe UI"/>
              </a:rPr>
              <a:t>Ejecucion controlada con usuario de rol estudiante</a:t>
            </a:r>
          </a:p>
        </p:txBody>
      </p:sp>
      <p:pic>
        <p:nvPicPr>
          <p:cNvPr id="4" name="Picture 3" descr="sigpr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320040"/>
            <a:ext cx="1783080" cy="48847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22960" y="1417320"/>
            <a:ext cx="6126480" cy="4434840"/>
          </a:xfrm>
          <a:prstGeom prst="roundRect">
            <a:avLst/>
          </a:prstGeom>
          <a:solidFill>
            <a:srgbClr val="F7F9FB"/>
          </a:solidFill>
          <a:ln>
            <a:solidFill>
              <a:srgbClr val="CD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581912"/>
            <a:ext cx="5797296" cy="4105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263744"/>
                </a:solidFill>
                <a:latin typeface="Consolas"/>
              </a:rPr>
              <a:t>CONNECT U_SIGPRA_EST/"Sigpra2026*Est"@//localhost:1521/XE</a:t>
            </a:r>
            <a:br/>
            <a:br/>
            <a:r>
              <a:rPr sz="1500">
                <a:solidFill>
                  <a:srgbClr val="263744"/>
                </a:solidFill>
                <a:latin typeface="Consolas"/>
              </a:rPr>
              <a:t>VAR v_id NUMBER</a:t>
            </a:r>
            <a:br/>
            <a:br/>
            <a:r>
              <a:rPr sz="1500">
                <a:solidFill>
                  <a:srgbClr val="263744"/>
                </a:solidFill>
                <a:latin typeface="Consolas"/>
              </a:rPr>
              <a:t>EXEC PRACTICAS_APP.SP_REGISTRAR_ACTIVIDAD(</a:t>
            </a:r>
            <a:br/>
            <a:r>
              <a:rPr sz="1500">
                <a:solidFill>
                  <a:srgbClr val="263744"/>
                </a:solidFill>
                <a:latin typeface="Consolas"/>
              </a:rPr>
              <a:t>  8, SYSDATE, 'Prueba sustentacion',</a:t>
            </a:r>
            <a:br/>
            <a:r>
              <a:rPr sz="1500">
                <a:solidFill>
                  <a:srgbClr val="263744"/>
                </a:solidFill>
                <a:latin typeface="Consolas"/>
              </a:rPr>
              <a:t>  'Actividad registrada desde procedimiento',</a:t>
            </a:r>
            <a:br/>
            <a:r>
              <a:rPr sz="1500">
                <a:solidFill>
                  <a:srgbClr val="263744"/>
                </a:solidFill>
                <a:latin typeface="Consolas"/>
              </a:rPr>
              <a:t>  1, :v_id</a:t>
            </a:r>
            <a:br/>
            <a:r>
              <a:rPr sz="1500">
                <a:solidFill>
                  <a:srgbClr val="263744"/>
                </a:solidFill>
                <a:latin typeface="Consolas"/>
              </a:rPr>
              <a:t>);</a:t>
            </a:r>
            <a:br/>
            <a:br/>
            <a:r>
              <a:rPr sz="1500">
                <a:solidFill>
                  <a:srgbClr val="263744"/>
                </a:solidFill>
                <a:latin typeface="Consolas"/>
              </a:rPr>
              <a:t>PRINT v_id</a:t>
            </a:r>
            <a:br/>
            <a:r>
              <a:rPr sz="1500">
                <a:solidFill>
                  <a:srgbClr val="263744"/>
                </a:solidFill>
                <a:latin typeface="Consolas"/>
              </a:rPr>
              <a:t>ROLLBACK;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1691640"/>
            <a:ext cx="406908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</a:pPr>
            <a:r>
              <a:rPr sz="2000">
                <a:solidFill>
                  <a:srgbClr val="192B38"/>
                </a:solidFill>
                <a:latin typeface="Segoe UI"/>
              </a:rPr>
              <a:t>Se prueba ejecucion real del procedimiento.</a:t>
            </a:r>
          </a:p>
          <a:p>
            <a:pPr>
              <a:spcAft>
                <a:spcPts val="900"/>
              </a:spcAft>
            </a:pPr>
            <a:r>
              <a:rPr sz="2000">
                <a:solidFill>
                  <a:srgbClr val="192B38"/>
                </a:solidFill>
                <a:latin typeface="Segoe UI"/>
              </a:rPr>
              <a:t>El usuario no entra como administrador.</a:t>
            </a:r>
          </a:p>
          <a:p>
            <a:pPr>
              <a:spcAft>
                <a:spcPts val="900"/>
              </a:spcAft>
            </a:pPr>
            <a:r>
              <a:rPr sz="2000">
                <a:solidFill>
                  <a:srgbClr val="192B38"/>
                </a:solidFill>
                <a:latin typeface="Segoe UI"/>
              </a:rPr>
              <a:t>ROLLBACK evita alterar datos definitivos.</a:t>
            </a:r>
          </a:p>
          <a:p>
            <a:pPr>
              <a:spcAft>
                <a:spcPts val="900"/>
              </a:spcAft>
            </a:pPr>
            <a:r>
              <a:rPr sz="2000">
                <a:solidFill>
                  <a:srgbClr val="192B38"/>
                </a:solidFill>
                <a:latin typeface="Segoe UI"/>
              </a:rPr>
              <a:t>Resultado esperado: procedimiento terminado correctamente y un ID generado.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0" y="6601968"/>
            <a:ext cx="1005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  <a:latin typeface="Segoe UI"/>
              </a:rPr>
              <a:t>7/8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961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92B38"/>
                </a:solidFill>
                <a:latin typeface="Segoe UI"/>
              </a:rPr>
              <a:t>Cierre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60120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36570"/>
                </a:solidFill>
                <a:latin typeface="Segoe UI"/>
              </a:rPr>
              <a:t>Conclusiones para la entrega final</a:t>
            </a:r>
          </a:p>
        </p:txBody>
      </p:sp>
      <p:pic>
        <p:nvPicPr>
          <p:cNvPr id="4" name="Picture 3" descr="sigpr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320040"/>
            <a:ext cx="1783080" cy="48847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1554480"/>
            <a:ext cx="10058400" cy="397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</a:pPr>
            <a:r>
              <a:rPr sz="2300">
                <a:solidFill>
                  <a:srgbClr val="192B38"/>
                </a:solidFill>
                <a:latin typeface="Segoe UI"/>
              </a:rPr>
              <a:t>SIGPRA separa responsabilidades con roles Oracle.</a:t>
            </a:r>
          </a:p>
          <a:p>
            <a:pPr>
              <a:spcAft>
                <a:spcPts val="900"/>
              </a:spcAft>
            </a:pPr>
            <a:r>
              <a:rPr sz="2300">
                <a:solidFill>
                  <a:srgbClr val="192B38"/>
                </a:solidFill>
                <a:latin typeface="Segoe UI"/>
              </a:rPr>
              <a:t>Los usuarios de base de datos evidencian perfiles reales de operacion.</a:t>
            </a:r>
          </a:p>
          <a:p>
            <a:pPr>
              <a:spcAft>
                <a:spcPts val="900"/>
              </a:spcAft>
            </a:pPr>
            <a:r>
              <a:rPr sz="2300">
                <a:solidFill>
                  <a:srgbClr val="192B38"/>
                </a:solidFill>
                <a:latin typeface="Segoe UI"/>
              </a:rPr>
              <a:t>Los procedimientos almacenados protegen reglas clave del negocio.</a:t>
            </a:r>
          </a:p>
          <a:p>
            <a:pPr>
              <a:spcAft>
                <a:spcPts val="900"/>
              </a:spcAft>
            </a:pPr>
            <a:r>
              <a:rPr sz="2300">
                <a:solidFill>
                  <a:srgbClr val="192B38"/>
                </a:solidFill>
                <a:latin typeface="Segoe UI"/>
              </a:rPr>
              <a:t>Los triggers apoyan consistencia y autoincremento.</a:t>
            </a:r>
          </a:p>
          <a:p>
            <a:pPr>
              <a:spcAft>
                <a:spcPts val="900"/>
              </a:spcAft>
            </a:pPr>
            <a:r>
              <a:rPr sz="2300">
                <a:solidFill>
                  <a:srgbClr val="192B38"/>
                </a:solidFill>
                <a:latin typeface="Segoe UI"/>
              </a:rPr>
              <a:t>La base de datos no es solo almacenamiento: tambien controla seguridad y logica.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5532120"/>
            <a:ext cx="8503920" cy="658368"/>
          </a:xfrm>
          <a:prstGeom prst="roundRect">
            <a:avLst/>
          </a:prstGeom>
          <a:solidFill>
            <a:srgbClr val="F2F7FC"/>
          </a:solidFill>
          <a:ln>
            <a:solidFill>
              <a:srgbClr val="D2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93392" y="5660136"/>
            <a:ext cx="81747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66CC"/>
                </a:solidFill>
                <a:latin typeface="Segoe UI"/>
              </a:rPr>
              <a:t>Frase final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93392" y="6062472"/>
            <a:ext cx="8174736" cy="182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192B38"/>
                </a:solidFill>
                <a:latin typeface="Segoe UI"/>
              </a:rPr>
              <a:t>La interfaz opera el sistema; Oracle protege los datos y ejecuta reglas centrales de SIGPRA.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81360" y="6601968"/>
            <a:ext cx="1005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  <a:latin typeface="Segoe UI"/>
              </a:rPr>
              <a:t>8/8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